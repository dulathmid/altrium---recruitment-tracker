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6400800" cy="64008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754880"/>
            <a:ext cx="4572000" cy="45720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ALTRIUM HR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1 Review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375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 Deep-Dive: Secure Login &amp; Authentication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718304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45537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Dimanthi Hewagama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45537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5157216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49926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Diheli Abeysinghe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49926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559612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7280" y="54315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Dulathmi Dunuwille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54315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&amp; Quality Assurance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Roles &amp; Sprint Goal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EEF3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Roles This Sprint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331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2768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Dimanthi Hewagama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5146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75234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stand-ups, coordinated the schedule, and kept the sprint on track.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4400" y="35661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5112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Diheli Abeysinghe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7490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98678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Gathered and documented requirements; communicated scope across the team.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400" y="48006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7457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Dulathmi Dunuwille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49834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&amp; QA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522122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schema, built the auth system, and tested it end-to-end.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35040" y="1554480"/>
            <a:ext cx="5532120" cy="4663440"/>
          </a:xfrm>
          <a:prstGeom prst="roundRect">
            <a:avLst>
              <a:gd name="adj" fmla="val 1569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55080" y="18105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Goal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2331720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Altrium's recruitment-tracking needs, analyze the existing manual process, and deliver Sprint 1's foundation: the product backlog, acceptance criteria, test cases, use case / activity / sequence diagrams, ERD, and low-fidelity wireframes.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355080" y="4343400"/>
            <a:ext cx="4892040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55080" y="452628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presentation, we drill into one core feature that anchors every workflow in the system: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516636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Login &amp; Role-Based Authentication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1 Backlog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600200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57276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HR login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924812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92481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8973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Admin: create / edit / deactivate user accounts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249424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24942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22199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Admin: assign role-based permissions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574036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2574036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54660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Admin: recruitment activity audit logs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2898648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289864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287121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HR: create, edit &amp; close job vacancies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223260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223260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19582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HR: configurable interview stages per vacancy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3547872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354787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35204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HR: individual &amp; bulk CV upload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3872484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080" y="387248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384505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candidate database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4197096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0080" y="4197096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416966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HR: shortlist / reject candidates after CV review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" y="4521708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080" y="452170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449427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HR: assign interviewers &amp; hiring managers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" y="4846320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0080" y="4846320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481888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HR: schedule interviews (date, time, panel, stage)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40080" y="5170932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40080" y="517093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051560" y="51435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HR: send interview invitation emails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40080" y="5495544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40080" y="549554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1051560" y="546811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HR: view all candidates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40080" y="5820156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40080" y="5820156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51560" y="579272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HR: search &amp; filter candidates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40080" y="6144768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40080" y="614476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1051560" y="611733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HR: last-reviewed-CV tracking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263640" y="1600200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263640" y="1600200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6675120" y="157276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Interviewer: view assigned candidates &amp; CVs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263640" y="1924812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263640" y="192481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6675120" y="18973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Interviewer: record interview feedback (score + notes)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6263640" y="2249424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6263640" y="224942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6675120" y="222199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Manager: advance / reject between rounds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6263640" y="2574036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263640" y="2574036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6675120" y="254660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HR: retain candidate records after closure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6263640" y="2898648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6263640" y="289864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6675120" y="287121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Interviewer: edit own feedback only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6263640" y="3223260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6263640" y="3223260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6675120" y="319582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modification history (audit trail)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6263640" y="3547872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6263640" y="354787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70" name="Text 68"/>
          <p:cNvSpPr txBox="1"/>
          <p:nvPr/>
        </p:nvSpPr>
        <p:spPr>
          <a:xfrm>
            <a:off x="6675120" y="35204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Manager: view feedback across interviewers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6263640" y="3872484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6263640" y="387248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73" name="Text 71"/>
          <p:cNvSpPr txBox="1"/>
          <p:nvPr/>
        </p:nvSpPr>
        <p:spPr>
          <a:xfrm>
            <a:off x="6675120" y="384505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HR: send selection / rejection emails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6263640" y="4197096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6263640" y="4197096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76" name="Text 74"/>
          <p:cNvSpPr txBox="1"/>
          <p:nvPr/>
        </p:nvSpPr>
        <p:spPr>
          <a:xfrm>
            <a:off x="6675120" y="416966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Management: recruitment dashboard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6263640" y="4521708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6263640" y="452170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9" name="Text 77"/>
          <p:cNvSpPr txBox="1"/>
          <p:nvPr/>
        </p:nvSpPr>
        <p:spPr>
          <a:xfrm>
            <a:off x="6675120" y="449427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Management: recruitment KPI monitoring</a:t>
            </a:r>
            <a:endParaRPr lang="en-US" sz="1150" dirty="0"/>
          </a:p>
        </p:txBody>
      </p:sp>
      <p:sp>
        <p:nvSpPr>
          <p:cNvPr id="80" name="Shape 78"/>
          <p:cNvSpPr/>
          <p:nvPr/>
        </p:nvSpPr>
        <p:spPr>
          <a:xfrm>
            <a:off x="6263640" y="4846320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6263640" y="4846320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82" name="Text 80"/>
          <p:cNvSpPr txBox="1"/>
          <p:nvPr/>
        </p:nvSpPr>
        <p:spPr>
          <a:xfrm>
            <a:off x="6675120" y="481888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Management: per-vacancy reports</a:t>
            </a:r>
            <a:endParaRPr lang="en-US" sz="1150" dirty="0"/>
          </a:p>
        </p:txBody>
      </p:sp>
      <p:sp>
        <p:nvSpPr>
          <p:cNvPr id="83" name="Shape 81"/>
          <p:cNvSpPr/>
          <p:nvPr/>
        </p:nvSpPr>
        <p:spPr>
          <a:xfrm>
            <a:off x="6263640" y="5170932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6263640" y="517093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85" name="Text 83"/>
          <p:cNvSpPr txBox="1"/>
          <p:nvPr/>
        </p:nvSpPr>
        <p:spPr>
          <a:xfrm>
            <a:off x="6675120" y="51435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Management: export reports as PDF</a:t>
            </a:r>
            <a:endParaRPr lang="en-US" sz="1150" dirty="0"/>
          </a:p>
        </p:txBody>
      </p:sp>
      <p:sp>
        <p:nvSpPr>
          <p:cNvPr id="86" name="Shape 84"/>
          <p:cNvSpPr/>
          <p:nvPr/>
        </p:nvSpPr>
        <p:spPr>
          <a:xfrm>
            <a:off x="6263640" y="5495544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6263640" y="549554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88" name="Text 86"/>
          <p:cNvSpPr txBox="1"/>
          <p:nvPr/>
        </p:nvSpPr>
        <p:spPr>
          <a:xfrm>
            <a:off x="6675120" y="546811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Leadership: org-wide recruitment dashboard</a:t>
            </a:r>
            <a:endParaRPr lang="en-US" sz="1150" dirty="0"/>
          </a:p>
        </p:txBody>
      </p:sp>
      <p:sp>
        <p:nvSpPr>
          <p:cNvPr id="89" name="Shape 87"/>
          <p:cNvSpPr/>
          <p:nvPr/>
        </p:nvSpPr>
        <p:spPr>
          <a:xfrm>
            <a:off x="6263640" y="5820156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6263640" y="5820156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91" name="Text 89"/>
          <p:cNvSpPr txBox="1"/>
          <p:nvPr/>
        </p:nvSpPr>
        <p:spPr>
          <a:xfrm>
            <a:off x="6675120" y="579272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HR: candidate history across vacancies</a:t>
            </a:r>
            <a:endParaRPr lang="en-US" sz="1150" dirty="0"/>
          </a:p>
        </p:txBody>
      </p:sp>
      <p:sp>
        <p:nvSpPr>
          <p:cNvPr id="92" name="Shape 90"/>
          <p:cNvSpPr/>
          <p:nvPr/>
        </p:nvSpPr>
        <p:spPr>
          <a:xfrm>
            <a:off x="6263640" y="6144768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6263640" y="614476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94" name="Text 92"/>
          <p:cNvSpPr txBox="1"/>
          <p:nvPr/>
        </p:nvSpPr>
        <p:spPr>
          <a:xfrm>
            <a:off x="6675120" y="611733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Manager: compare shortlisted candidates</a:t>
            </a:r>
            <a:endParaRPr lang="en-US" sz="1150" dirty="0"/>
          </a:p>
        </p:txBody>
      </p:sp>
      <p:sp>
        <p:nvSpPr>
          <p:cNvPr id="95" name="Shape 93"/>
          <p:cNvSpPr/>
          <p:nvPr/>
        </p:nvSpPr>
        <p:spPr>
          <a:xfrm>
            <a:off x="5989320" y="1554480"/>
            <a:ext cx="0" cy="489204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 — Secure Login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5" name="Image 0" descr="/sessions/keen-sweet-babbage/mnt/outputs/sprint1_images/image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17320"/>
            <a:ext cx="5943600" cy="4206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669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 — full system Use Case Diagram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858000" y="1417320"/>
            <a:ext cx="4709160" cy="2331720"/>
          </a:xfrm>
          <a:prstGeom prst="roundRect">
            <a:avLst>
              <a:gd name="adj" fmla="val 2353"/>
            </a:avLst>
          </a:prstGeom>
          <a:solidFill>
            <a:srgbClr val="1E2761"/>
          </a:solidFill>
          <a:ln/>
        </p:spPr>
      </p:sp>
      <p:pic>
        <p:nvPicPr>
          <p:cNvPr id="8" name="Image 1" descr="/sessions/keen-sweet-babbage/mnt/outputs/login_usecase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554480"/>
            <a:ext cx="4434840" cy="16916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995160" y="32918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actor in the system converges on “Log in.” It is the one use case shared by HR, Interviewer, Hiring Manager, Management, Leadership and IT Admin alike.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858000" y="3977640"/>
            <a:ext cx="4709160" cy="1051560"/>
          </a:xfrm>
          <a:prstGeom prst="roundRect">
            <a:avLst>
              <a:gd name="adj" fmla="val 5217"/>
            </a:avLst>
          </a:prstGeom>
          <a:solidFill>
            <a:srgbClr val="EEF3FE"/>
          </a:solidFill>
          <a:ln/>
        </p:spPr>
      </p:sp>
      <p:sp>
        <p:nvSpPr>
          <p:cNvPr id="11" name="Shape 7"/>
          <p:cNvSpPr/>
          <p:nvPr/>
        </p:nvSpPr>
        <p:spPr>
          <a:xfrm>
            <a:off x="6858000" y="3977640"/>
            <a:ext cx="54864" cy="10515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086600" y="406908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the core feature: nothing else in the Recruitment Tracking System is reachable until this use case succeeds — it is the single shared gateway for all six roles.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858000" y="5166360"/>
            <a:ext cx="4709160" cy="1051560"/>
          </a:xfrm>
          <a:prstGeom prst="roundRect">
            <a:avLst>
              <a:gd name="adj" fmla="val 5217"/>
            </a:avLst>
          </a:prstGeom>
          <a:solidFill>
            <a:srgbClr val="EEF3FE"/>
          </a:solidFill>
          <a:ln/>
        </p:spPr>
      </p:sp>
      <p:sp>
        <p:nvSpPr>
          <p:cNvPr id="14" name="Shape 10"/>
          <p:cNvSpPr/>
          <p:nvPr/>
        </p:nvSpPr>
        <p:spPr>
          <a:xfrm>
            <a:off x="6858000" y="5166360"/>
            <a:ext cx="54864" cy="10515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086600" y="525780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&lt;&lt;include&gt;&gt; Authenticates User: credential check, account-status check, and role resolution all happen inside this one included use case (see Activity &amp; Sequence Diagrams next).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 Diagram — Secure Login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5" name="Image 0" descr="/sessions/keen-sweet-babbage/mnt/outputs/sprint1_images/image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371600"/>
            <a:ext cx="3246120" cy="47091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60807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 — Login</a:t>
            </a:r>
            <a:endParaRPr lang="en-US" sz="1000" dirty="0"/>
          </a:p>
        </p:txBody>
      </p:sp>
      <p:pic>
        <p:nvPicPr>
          <p:cNvPr id="7" name="Image 1" descr="/sessions/keen-sweet-babbage/mnt/outputs/sprint1_images/image6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977640" y="1371600"/>
            <a:ext cx="3566160" cy="43434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977640" y="57424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 — Authenticate User (&lt;&lt;include&gt;&gt;)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7772400" y="1371600"/>
            <a:ext cx="3794760" cy="4617720"/>
          </a:xfrm>
          <a:prstGeom prst="roundRect">
            <a:avLst>
              <a:gd name="adj" fmla="val 1446"/>
            </a:avLst>
          </a:prstGeom>
          <a:solidFill>
            <a:srgbClr val="EEF3FE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8046720" y="15727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note for Q&amp;A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046720" y="19659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diagrams show two distinct messages (“User not found” / “Invalid credentials”) for clarity of flow.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8046720" y="26974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shipped system deliberately collapses both into one generic “Invalid email or password” response.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046720" y="3474720"/>
            <a:ext cx="324612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046720" y="361188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security decision, not an oversight: a distinct message would let an attacker enumerate which email addresses have accounts (or which are deactivated). Same rule applies to the “User active, role assigned?” branch — a deactivated account fails the same way as a wrong password.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Diagram — Secure Login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5" name="Image 0" descr="/sessions/keen-sweet-babbage/mnt/outputs/sprint1_images/image6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08960" y="1325880"/>
            <a:ext cx="5943600" cy="4754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108960" y="60807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60 — User → Front End → Backend API → Database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Cases — Secure Login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64208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1E7A3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6642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DATA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166420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TCI-01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121408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login → enter hr@altrium.test / password123 → click Log in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83464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is authenticated and navigated to the correct role-based landing page.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46304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664208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16642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DATA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332720" y="166420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TCI-03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121408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valid email (hr@altrium.test) with the wrong password (Password123) → click Log in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83464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with “Invalid email or password” — no hint that the email was correct.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88620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4087368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408736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709160" y="408736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TCI-05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4544568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both the email and password fields blank → click Log in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52578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Client/server reject the empty submission with “Invalid email or password” — same generic message, no field is ever silently accepted empty.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388620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4087368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92240" y="408736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332720" y="408736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4544568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network request/response and the database row created at signup.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52578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is never present in plaintext anywhere: it is bcrypt-hashed before storage, and no API response at any endpoint ever returns passwordHash.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TCI-01, TCI-03 and TCI-05 are documented in Sprint1_Manual_Test_Cases.docx. The non-functional case is new — no such case existed anywhere in the Sprint 1 test suite before this review.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Retrospective — Dimanthi Hewagama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4173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held this sprint: Scrum Master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3682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role performed (roles were swapped)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7157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COMPLETED — name the second Agile role you covered during Sprint 1.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2826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well in both roles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6301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COMPLETED — one concrete win from each role you held.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1970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challenge you faced switching roles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5445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COMPLETED — be specific: what was harder than expected?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1663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114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you'd do differently next sprint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589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COMPLETED — one actionable change.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Retrospective — Diheli Abeysinghe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4173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held this sprint: Business Analyst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3682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role performed (roles were swapped)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7157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COMPLETED — name the second Agile role you covered during Sprint 1.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2826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well in both roles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6301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COMPLETED — one concrete win from each role you held.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1970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challenge you faced switching roles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5445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COMPLETED — be specific: what was harder than expected?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1663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114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you'd do differently next sprint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589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COMPLETED — one actionable change.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Retrospective — Dulathmi Dunuwille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4173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held this sprint: Developer &amp; Quality Assurance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3682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role performed (roles were swapped)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7157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COMPLETED — name the second Agile role you covered during Sprint 1.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2826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well in both roles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6301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COMPLETED — one concrete win from each role you held.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1970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challenge you faced switching roles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5445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COMPLETED — be specific: what was harder than expected?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1663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114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you'd do differently next sprint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589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COMPLETED — one actionable change.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(OPTIONAL)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Workload Matrix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881360" cy="457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508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303520" y="15087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10881360" cy="1051560"/>
          </a:xfrm>
          <a:prstGeom prst="rect">
            <a:avLst/>
          </a:prstGeom>
          <a:solidFill>
            <a:srgbClr val="EEF3F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19659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Dimanthi Hewagama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196596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96596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and led meetings and stand-ups, coordinated the team's schedule, divided and assigned tasks among members, and kept the sprint on track.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017520"/>
            <a:ext cx="1088136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01752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Diheli Abeysinghe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301752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301752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Gathered and documented requirements; communicated scope and clarifications across the team.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069080"/>
            <a:ext cx="10881360" cy="1051560"/>
          </a:xfrm>
          <a:prstGeom prst="rect">
            <a:avLst/>
          </a:prstGeom>
          <a:solidFill>
            <a:srgbClr val="EEF3F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0690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Dulathmi Dunuwille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406908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406908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implemented the full Prisma/MySQL schema and built the Express/JWT authentication system with role-based access control.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5120640"/>
            <a:ext cx="1088136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51206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Dulathmi Dunuwille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512064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303520" y="512064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tested and verified all authentication endpoints end-to-end against the live database and confirmed password hashing.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309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members also collaboratively contributed to the Product Backlog, WBS, Activity/Use Case/Sequence Diagrams, ERD and Low-Fidelity Wireframes.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2026-09-06T12:42:09Z</dcterms:created>
  <dcterms:modified xsi:type="dcterms:W3CDTF">2026-09-06T12:42:09Z</dcterms:modified>
</cp:coreProperties>
</file>